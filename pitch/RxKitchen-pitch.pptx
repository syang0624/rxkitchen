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E60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</a:rPr>
              <a:t>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384048"/>
            <a:ext cx="9601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1922"/>
                </a:solidFill>
              </a:rPr>
              <a:t>RxKitchen</a:t>
            </a:r>
            <a:r>
              <a:rPr sz="1100" b="0">
                <a:solidFill>
                  <a:srgbClr val="62625B"/>
                </a:solidFill>
              </a:rPr>
              <a:t>   · agentic clinical meal planning · built for Project Open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60023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89888"/>
            <a:ext cx="105156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211922"/>
                </a:solidFill>
              </a:rPr>
              <a:t>A prescription on one side.</a:t>
            </a:r>
          </a:p>
          <a:p>
            <a:pPr algn="l">
              <a:spcAft>
                <a:spcPts val="0"/>
              </a:spcAft>
            </a:pPr>
            <a:r>
              <a:rPr sz="3800" b="1">
                <a:solidFill>
                  <a:srgbClr val="211922"/>
                </a:solidFill>
              </a:rPr>
              <a:t>A food bank on the other.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85953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2625B"/>
                </a:solidFill>
              </a:rPr>
              <a:t>Hospitals discharge clients with strict clinical diets — diabetes, cardiovascular, renal, allergies. Medically-tailored-meal kitchens must match them against </a:t>
            </a:r>
            <a:r>
              <a:rPr sz="1300" b="1">
                <a:solidFill>
                  <a:srgbClr val="211922"/>
                </a:solidFill>
              </a:rPr>
              <a:t>unpredictable donations, finite stock, and limited kitchen capacity</a:t>
            </a:r>
            <a:r>
              <a:rPr sz="1300" b="0">
                <a:solidFill>
                  <a:srgbClr val="62625B"/>
                </a:solidFill>
              </a:rPr>
              <a:t>. Today a dietitian reconciles this by hand, for hours, per referral.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62625B"/>
                </a:solidFill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11922"/>
                </a:solidFill>
              </a:rPr>
              <a:t>RxKitchen: </a:t>
            </a:r>
            <a:r>
              <a:rPr sz="1300" b="0">
                <a:solidFill>
                  <a:srgbClr val="62625B"/>
                </a:solidFill>
              </a:rPr>
              <a:t>a multi-agent AI drafts the entire week — menus, batches, grocery kits — and the Chief Nutrition Officer reviews, approves, and edits: one click substitutes a recipe for a whole group, safety-checked per person. </a:t>
            </a:r>
            <a:r>
              <a:rPr sz="1300" b="1">
                <a:solidFill>
                  <a:srgbClr val="211922"/>
                </a:solidFill>
              </a:rPr>
              <a:t>Agents propose. She decides. Nothing unsafe ships.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230368"/>
            <a:ext cx="2167128" cy="1024128"/>
          </a:xfrm>
          <a:prstGeom prst="roundRect">
            <a:avLst>
              <a:gd name="adj" fmla="val 10000"/>
            </a:avLst>
          </a:prstGeom>
          <a:solidFill>
            <a:srgbClr val="C7F0DA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03C25"/>
                </a:solidFill>
              </a:rPr>
              <a:t>0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103C25"/>
                </a:solidFill>
              </a:rPr>
              <a:t>clinical safety issues — re-verified live in the browser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5496" y="5230368"/>
            <a:ext cx="2167128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11922"/>
                </a:solidFill>
              </a:rPr>
              <a:t>150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2625B"/>
                </a:solidFill>
              </a:rPr>
              <a:t>clients planned, referral to doorstep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02352" y="5230368"/>
            <a:ext cx="2167128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11922"/>
                </a:solidFill>
              </a:rPr>
              <a:t>1,067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2625B"/>
                </a:solidFill>
              </a:rPr>
              <a:t>meals scheduled this week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79208" y="5230368"/>
            <a:ext cx="2167128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11922"/>
                </a:solidFill>
              </a:rPr>
              <a:t>100%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2625B"/>
                </a:solidFill>
              </a:rPr>
              <a:t>matched to fully compliant meals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56064" y="5230368"/>
            <a:ext cx="2167128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11922"/>
                </a:solidFill>
              </a:rPr>
              <a:t>77%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2625B"/>
                </a:solidFill>
              </a:rPr>
              <a:t>of donations routed into recipes &amp; pantry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Steven &amp; Nori · hackathon POC · July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E60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</a:rPr>
              <a:t>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384048"/>
            <a:ext cx="9601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1922"/>
                </a:solidFill>
              </a:rPr>
              <a:t>RxKitchen</a:t>
            </a:r>
            <a:r>
              <a:rPr sz="1100" b="0">
                <a:solidFill>
                  <a:srgbClr val="62625B"/>
                </a:solidFill>
              </a:rPr>
              <a:t>   · field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60023"/>
                </a:solidFill>
              </a:rPr>
              <a:t>WE WENT TO THE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11922"/>
                </a:solidFill>
              </a:rPr>
              <a:t>Our visit to Project Open Hand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3392"/>
            <a:ext cx="2688336" cy="2761488"/>
          </a:xfrm>
          <a:prstGeom prst="roundRect">
            <a:avLst>
              <a:gd name="adj" fmla="val 10000"/>
            </a:avLst>
          </a:prstGeom>
          <a:solidFill>
            <a:srgbClr val="F0EFE9"/>
          </a:solidFill>
          <a:ln w="12700">
            <a:solidFill>
              <a:srgbClr val="DADAD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62625B"/>
                </a:solidFill>
              </a:rPr>
              <a:t>YOUR PHOTO HERE</a:t>
            </a:r>
          </a:p>
          <a:p>
            <a:pPr algn="ctr">
              <a:spcAft>
                <a:spcPts val="100"/>
              </a:spcAft>
            </a:pPr>
            <a:r>
              <a:rPr sz="600" b="0">
                <a:solidFill>
                  <a:srgbClr val="62625B"/>
                </a:solidFill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Insert → Picture →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This Device…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62625B"/>
                </a:solidFill>
              </a:rPr>
              <a:t>(visit photo 1, then delete this box)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1993392"/>
            <a:ext cx="2688336" cy="2761488"/>
          </a:xfrm>
          <a:prstGeom prst="roundRect">
            <a:avLst>
              <a:gd name="adj" fmla="val 10000"/>
            </a:avLst>
          </a:prstGeom>
          <a:solidFill>
            <a:srgbClr val="F0EFE9"/>
          </a:solidFill>
          <a:ln w="12700">
            <a:solidFill>
              <a:srgbClr val="DADAD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62625B"/>
                </a:solidFill>
              </a:rPr>
              <a:t>YOUR PHOTO HERE</a:t>
            </a:r>
          </a:p>
          <a:p>
            <a:pPr algn="ctr">
              <a:spcAft>
                <a:spcPts val="100"/>
              </a:spcAft>
            </a:pPr>
            <a:r>
              <a:rPr sz="600" b="0">
                <a:solidFill>
                  <a:srgbClr val="62625B"/>
                </a:solidFill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Insert → Picture →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This Device…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62625B"/>
                </a:solidFill>
              </a:rPr>
              <a:t>(visit photo 2, then delete this box)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3056" y="1993392"/>
            <a:ext cx="2688336" cy="2761488"/>
          </a:xfrm>
          <a:prstGeom prst="roundRect">
            <a:avLst>
              <a:gd name="adj" fmla="val 10000"/>
            </a:avLst>
          </a:prstGeom>
          <a:solidFill>
            <a:srgbClr val="F0EFE9"/>
          </a:solidFill>
          <a:ln w="12700">
            <a:solidFill>
              <a:srgbClr val="DADAD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62625B"/>
                </a:solidFill>
              </a:rPr>
              <a:t>YOUR PHOTO HERE</a:t>
            </a:r>
          </a:p>
          <a:p>
            <a:pPr algn="ctr">
              <a:spcAft>
                <a:spcPts val="100"/>
              </a:spcAft>
            </a:pPr>
            <a:r>
              <a:rPr sz="600" b="0">
                <a:solidFill>
                  <a:srgbClr val="62625B"/>
                </a:solidFill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Insert → Picture →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This Device…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62625B"/>
                </a:solidFill>
              </a:rPr>
              <a:t>(visit photo 3, then delete this box)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0264" y="1993392"/>
            <a:ext cx="2688336" cy="2761488"/>
          </a:xfrm>
          <a:prstGeom prst="roundRect">
            <a:avLst>
              <a:gd name="adj" fmla="val 10000"/>
            </a:avLst>
          </a:prstGeom>
          <a:solidFill>
            <a:srgbClr val="F0EFE9"/>
          </a:solidFill>
          <a:ln w="12700">
            <a:solidFill>
              <a:srgbClr val="DADAD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62625B"/>
                </a:solidFill>
              </a:rPr>
              <a:t>YOUR PHOTO HERE</a:t>
            </a:r>
          </a:p>
          <a:p>
            <a:pPr algn="ctr">
              <a:spcAft>
                <a:spcPts val="100"/>
              </a:spcAft>
            </a:pPr>
            <a:r>
              <a:rPr sz="600" b="0">
                <a:solidFill>
                  <a:srgbClr val="62625B"/>
                </a:solidFill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Insert → Picture →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This Device…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62625B"/>
                </a:solidFill>
              </a:rPr>
              <a:t>(visit photo 4, then delete this box)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956048"/>
            <a:ext cx="365760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11922"/>
                </a:solidFill>
              </a:rPr>
              <a:t>Kitchens cook menus, not plates.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62625B"/>
                </a:solidFill>
              </a:rPr>
              <a:t>Bulk batches of a few recipes a day — never 150 bespoke meals.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03C25"/>
                </a:solidFill>
              </a:rPr>
              <a:t>→ 3–5 recipes/day menu planner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5" y="4956048"/>
            <a:ext cx="365760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11922"/>
                </a:solidFill>
              </a:rPr>
              <a:t>Donations are a lottery.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62625B"/>
                </a:solidFill>
              </a:rPr>
              <a:t>What arrives is unpredictable; using it well is the margin that funds meals.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03C25"/>
                </a:solidFill>
              </a:rPr>
              <a:t>→ triage gate + donation-to-recipe routing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1" y="4956048"/>
            <a:ext cx="365760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11922"/>
                </a:solidFill>
              </a:rPr>
              <a:t>A human signs off on safety.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62625B"/>
                </a:solidFill>
              </a:rPr>
              <a:t>The nutrition team is clinically accountable — automation can draft, not decide.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03C25"/>
                </a:solidFill>
              </a:rPr>
              <a:t>→ approve-to-send workflow, gated on 0 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What we learned became the product's shape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E60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</a:rPr>
              <a:t>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384048"/>
            <a:ext cx="9601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1922"/>
                </a:solidFill>
              </a:rPr>
              <a:t>RxKitchen</a:t>
            </a:r>
            <a:r>
              <a:rPr sz="1100" b="0">
                <a:solidFill>
                  <a:srgbClr val="62625B"/>
                </a:solidFill>
              </a:rPr>
              <a:t>  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60023"/>
                </a:solidFill>
              </a:rPr>
              <a:t>REFERRAL TO DOORSTEP, IN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1155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1922"/>
                </a:solidFill>
              </a:rPr>
              <a:t>Specialist agents, one safety hierarchy, a human decision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38528"/>
            <a:ext cx="1700784" cy="1225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11922"/>
                </a:solidFill>
              </a:rPr>
              <a:t>🏥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11922"/>
                </a:solidFill>
              </a:rPr>
              <a:t>Referral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62625B"/>
                </a:solidFill>
              </a:rPr>
              <a:t>HL7-style discharge from the hospital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7420" y="2395728"/>
            <a:ext cx="228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62625B"/>
                </a:solidFill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50591" y="1938528"/>
            <a:ext cx="1700784" cy="1225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11922"/>
                </a:solidFill>
              </a:rPr>
              <a:t>📋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11922"/>
                </a:solidFill>
              </a:rPr>
              <a:t>Intake Agent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62625B"/>
                </a:solidFill>
              </a:rPr>
              <a:t>structures diets, allergies, hard limits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5091" y="2395728"/>
            <a:ext cx="228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62625B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938528"/>
            <a:ext cx="1700784" cy="1225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11922"/>
                </a:solidFill>
              </a:rPr>
              <a:t>🩺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11922"/>
                </a:solidFill>
              </a:rPr>
              <a:t>Clinical Matching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62625B"/>
                </a:solidFill>
              </a:rPr>
              <a:t>hard checks exclude — never “score down”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12764" y="2395728"/>
            <a:ext cx="228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62625B"/>
                </a:solidFill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1938528"/>
            <a:ext cx="1700784" cy="1225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11922"/>
                </a:solidFill>
              </a:rPr>
              <a:t>🍳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11922"/>
                </a:solidFill>
              </a:rPr>
              <a:t>Kitchen Planning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62625B"/>
                </a:solidFill>
              </a:rPr>
              <a:t>daily menus + fresh batches from real demand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0436" y="2395728"/>
            <a:ext cx="228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62625B"/>
                </a:solidFill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93608" y="1938528"/>
            <a:ext cx="1700784" cy="1225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11922"/>
                </a:solidFill>
              </a:rPr>
              <a:t>📦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11922"/>
                </a:solidFill>
              </a:rPr>
              <a:t>Donation Triage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62625B"/>
                </a:solidFill>
              </a:rPr>
              <a:t>food-safety gate routes arrivals to recipes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08108" y="2395728"/>
            <a:ext cx="228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62625B"/>
                </a:solidFill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0" y="1938528"/>
            <a:ext cx="1700784" cy="1225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11922"/>
                </a:solidFill>
              </a:rPr>
              <a:t>✅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11922"/>
                </a:solidFill>
              </a:rPr>
              <a:t>CNO approves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62625B"/>
                </a:solidFill>
              </a:rPr>
              <a:t>gated on zero issues → cook sheet to kitchen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01568"/>
            <a:ext cx="5989320" cy="2697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1922"/>
                </a:solidFill>
              </a:rPr>
              <a:t>Honest by construction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</a:t>
            </a:r>
            <a:r>
              <a:rPr sz="1100" b="1">
                <a:solidFill>
                  <a:srgbClr val="211922"/>
                </a:solidFill>
              </a:rPr>
              <a:t>Reasoning pre-computed offline</a:t>
            </a:r>
            <a:r>
              <a:rPr sz="1100" b="0">
                <a:solidFill>
                  <a:srgbClr val="62625B"/>
                </a:solidFill>
              </a:rPr>
              <a:t> by Claude — zero live-inference risk on stage.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</a:t>
            </a:r>
            <a:r>
              <a:rPr sz="1100" b="1">
                <a:solidFill>
                  <a:srgbClr val="211922"/>
                </a:solidFill>
              </a:rPr>
              <a:t>Safety verified live:</a:t>
            </a:r>
            <a:r>
              <a:rPr sz="1100" b="0">
                <a:solidFill>
                  <a:srgbClr val="62625B"/>
                </a:solidFill>
              </a:rPr>
              <a:t> 4,850 constraint checks re-run in the browser; the “0” is computed, never asserted.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</a:t>
            </a:r>
            <a:r>
              <a:rPr sz="1100" b="1">
                <a:solidFill>
                  <a:srgbClr val="211922"/>
                </a:solidFill>
              </a:rPr>
              <a:t>Grounding-audited streams:</a:t>
            </a:r>
            <a:r>
              <a:rPr sz="1100" b="0">
                <a:solidFill>
                  <a:srgbClr val="62625B"/>
                </a:solidFill>
              </a:rPr>
              <a:t> agents can’t cite a meal, number, or batch that isn’t in the data.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</a:t>
            </a:r>
            <a:r>
              <a:rPr sz="1100" b="1">
                <a:solidFill>
                  <a:srgbClr val="211922"/>
                </a:solidFill>
              </a:rPr>
              <a:t>The replay contract is the v2 API</a:t>
            </a:r>
            <a:r>
              <a:rPr sz="1100" b="0">
                <a:solidFill>
                  <a:srgbClr val="62625B"/>
                </a:solidFill>
              </a:rPr>
              <a:t> — swap the replayer for live agents, keep the product.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3401568"/>
            <a:ext cx="4983480" cy="2697480"/>
          </a:xfrm>
          <a:prstGeom prst="roundRect">
            <a:avLst>
              <a:gd name="adj" fmla="val 10000"/>
            </a:avLst>
          </a:prstGeom>
          <a:solidFill>
            <a:srgbClr val="C7F0DA"/>
          </a:solidFill>
          <a:ln w="12700">
            <a:solidFill>
              <a:srgbClr val="A8D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3C25"/>
                </a:solidFill>
              </a:rPr>
              <a:t>What you saw in the demo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• New referral → drafted, explained, approved.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• “Why this meal?” — every check in plain words.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• Group substitution → one recipe swapped for ~100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   clients at once, safety-checked per person.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• Stockout → agents re-plan; limits never relax.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• Donation drop-off → triaged into a batch.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• Next-week projection → concrete donation asks.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Next: FHIR referrals · live agent runs behind the same contract · every MTM org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