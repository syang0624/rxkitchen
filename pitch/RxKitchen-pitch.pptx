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B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02920" y="384048"/>
            <a:ext cx="384048" cy="384048"/>
          </a:xfrm>
          <a:prstGeom prst="ellipse">
            <a:avLst/>
          </a:prstGeom>
          <a:solidFill>
            <a:srgbClr val="E600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 bIns="91440"/>
          <a:lstStyle/>
          <a:p>
            <a:pPr algn="ctr">
              <a:spcAft>
                <a:spcPts val="300"/>
              </a:spcAft>
            </a:pPr>
            <a:r>
              <a:rPr sz="1400" b="1">
                <a:solidFill>
                  <a:srgbClr val="FFFFFF"/>
                </a:solidFill>
              </a:rPr>
              <a:t>♥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24128" y="384048"/>
            <a:ext cx="960120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211922"/>
                </a:solidFill>
              </a:rPr>
              <a:t>RxKitchen</a:t>
            </a:r>
            <a:r>
              <a:rPr sz="1100" b="0">
                <a:solidFill>
                  <a:srgbClr val="62625B"/>
                </a:solidFill>
              </a:rPr>
              <a:t>   · agentic clinical meal planning · built for Project Open Hand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78992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E60023"/>
                </a:solidFill>
              </a:rPr>
              <a:t>THE PROBLEM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89888"/>
            <a:ext cx="10515600" cy="1600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800" b="1">
                <a:solidFill>
                  <a:srgbClr val="211922"/>
                </a:solidFill>
              </a:rPr>
              <a:t>A prescription on one side.</a:t>
            </a:r>
          </a:p>
          <a:p>
            <a:pPr algn="l">
              <a:spcAft>
                <a:spcPts val="0"/>
              </a:spcAft>
            </a:pPr>
            <a:r>
              <a:rPr sz="3800" b="1">
                <a:solidFill>
                  <a:srgbClr val="211922"/>
                </a:solidFill>
              </a:rPr>
              <a:t>A food bank on the other.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971800"/>
            <a:ext cx="8595360" cy="2103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62625B"/>
                </a:solidFill>
              </a:rPr>
              <a:t>Hospitals discharge clients with strict clinical diets — diabetes, cardiovascular, renal, allergies. Medically-tailored-meal kitchens must match them against </a:t>
            </a:r>
            <a:r>
              <a:rPr sz="1300" b="1">
                <a:solidFill>
                  <a:srgbClr val="211922"/>
                </a:solidFill>
              </a:rPr>
              <a:t>unpredictable donations, finite stock, and limited kitchen capacity</a:t>
            </a:r>
            <a:r>
              <a:rPr sz="1300" b="0">
                <a:solidFill>
                  <a:srgbClr val="62625B"/>
                </a:solidFill>
              </a:rPr>
              <a:t>. Today a dietitian reconciles this by hand, for hours, per referral.</a:t>
            </a:r>
          </a:p>
          <a:p>
            <a:pPr algn="l">
              <a:spcAft>
                <a:spcPts val="600"/>
              </a:spcAft>
            </a:pPr>
            <a:r>
              <a:rPr sz="800" b="0">
                <a:solidFill>
                  <a:srgbClr val="62625B"/>
                </a:solidFill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300" b="1">
                <a:solidFill>
                  <a:srgbClr val="211922"/>
                </a:solidFill>
              </a:rPr>
              <a:t>RxKitchen: </a:t>
            </a:r>
            <a:r>
              <a:rPr sz="1300" b="0">
                <a:solidFill>
                  <a:srgbClr val="62625B"/>
                </a:solidFill>
              </a:rPr>
              <a:t>a multi-agent AI drafts the entire week — menus, batches, grocery kits — and the Chief Nutrition Officer reviews and approves. </a:t>
            </a:r>
            <a:r>
              <a:rPr sz="1300" b="1">
                <a:solidFill>
                  <a:srgbClr val="211922"/>
                </a:solidFill>
              </a:rPr>
              <a:t>Agents propose. She approves. Nothing unsafe ships.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5230368"/>
            <a:ext cx="2167128" cy="1024128"/>
          </a:xfrm>
          <a:prstGeom prst="roundRect">
            <a:avLst>
              <a:gd name="adj" fmla="val 10000"/>
            </a:avLst>
          </a:prstGeom>
          <a:solidFill>
            <a:srgbClr val="C7F0DA"/>
          </a:solidFill>
          <a:ln w="12700">
            <a:solidFill>
              <a:srgbClr val="DADA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46304" tIns="91440" bIns="91440"/>
          <a:lstStyle/>
          <a:p>
            <a:pPr algn="l">
              <a:spcAft>
                <a:spcPts val="200"/>
              </a:spcAft>
            </a:pPr>
            <a:r>
              <a:rPr sz="2200" b="1">
                <a:solidFill>
                  <a:srgbClr val="103C25"/>
                </a:solidFill>
              </a:rPr>
              <a:t>0</a:t>
            </a:r>
          </a:p>
          <a:p>
            <a:pPr algn="l">
              <a:spcAft>
                <a:spcPts val="200"/>
              </a:spcAft>
            </a:pPr>
            <a:r>
              <a:rPr sz="900" b="0">
                <a:solidFill>
                  <a:srgbClr val="103C25"/>
                </a:solidFill>
              </a:rPr>
              <a:t>clinical safety issues — re-verified live in the browser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825496" y="5230368"/>
            <a:ext cx="2167128" cy="102412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ADA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46304" tIns="91440" bIns="91440"/>
          <a:lstStyle/>
          <a:p>
            <a:pPr algn="l">
              <a:spcAft>
                <a:spcPts val="200"/>
              </a:spcAft>
            </a:pPr>
            <a:r>
              <a:rPr sz="2200" b="1">
                <a:solidFill>
                  <a:srgbClr val="211922"/>
                </a:solidFill>
              </a:rPr>
              <a:t>150</a:t>
            </a:r>
          </a:p>
          <a:p>
            <a:pPr algn="l">
              <a:spcAft>
                <a:spcPts val="200"/>
              </a:spcAft>
            </a:pPr>
            <a:r>
              <a:rPr sz="900" b="0">
                <a:solidFill>
                  <a:srgbClr val="62625B"/>
                </a:solidFill>
              </a:rPr>
              <a:t>clients planned, referral to doorstep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102352" y="5230368"/>
            <a:ext cx="2167128" cy="102412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ADA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46304" tIns="91440" bIns="91440"/>
          <a:lstStyle/>
          <a:p>
            <a:pPr algn="l">
              <a:spcAft>
                <a:spcPts val="200"/>
              </a:spcAft>
            </a:pPr>
            <a:r>
              <a:rPr sz="2200" b="1">
                <a:solidFill>
                  <a:srgbClr val="211922"/>
                </a:solidFill>
              </a:rPr>
              <a:t>1,067</a:t>
            </a:r>
          </a:p>
          <a:p>
            <a:pPr algn="l">
              <a:spcAft>
                <a:spcPts val="200"/>
              </a:spcAft>
            </a:pPr>
            <a:r>
              <a:rPr sz="900" b="0">
                <a:solidFill>
                  <a:srgbClr val="62625B"/>
                </a:solidFill>
              </a:rPr>
              <a:t>meals scheduled this week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79208" y="5230368"/>
            <a:ext cx="2167128" cy="102412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ADA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46304" tIns="91440" bIns="91440"/>
          <a:lstStyle/>
          <a:p>
            <a:pPr algn="l">
              <a:spcAft>
                <a:spcPts val="200"/>
              </a:spcAft>
            </a:pPr>
            <a:r>
              <a:rPr sz="2200" b="1">
                <a:solidFill>
                  <a:srgbClr val="211922"/>
                </a:solidFill>
              </a:rPr>
              <a:t>100%</a:t>
            </a:r>
          </a:p>
          <a:p>
            <a:pPr algn="l">
              <a:spcAft>
                <a:spcPts val="200"/>
              </a:spcAft>
            </a:pPr>
            <a:r>
              <a:rPr sz="900" b="0">
                <a:solidFill>
                  <a:srgbClr val="62625B"/>
                </a:solidFill>
              </a:rPr>
              <a:t>matched to fully compliant meals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656064" y="5230368"/>
            <a:ext cx="2167128" cy="102412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ADA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46304" tIns="91440" bIns="91440"/>
          <a:lstStyle/>
          <a:p>
            <a:pPr algn="l">
              <a:spcAft>
                <a:spcPts val="200"/>
              </a:spcAft>
            </a:pPr>
            <a:r>
              <a:rPr sz="2200" b="1">
                <a:solidFill>
                  <a:srgbClr val="211922"/>
                </a:solidFill>
              </a:rPr>
              <a:t>77%</a:t>
            </a:r>
          </a:p>
          <a:p>
            <a:pPr algn="l">
              <a:spcAft>
                <a:spcPts val="200"/>
              </a:spcAft>
            </a:pPr>
            <a:r>
              <a:rPr sz="900" b="0">
                <a:solidFill>
                  <a:srgbClr val="62625B"/>
                </a:solidFill>
              </a:rPr>
              <a:t>of donations routed into recipes &amp; pantry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6419088"/>
            <a:ext cx="86868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62625B"/>
                </a:solidFill>
              </a:rPr>
              <a:t>Steven &amp; Nori · hackathon POC · July 2026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0" y="6419088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2625B"/>
                </a:solidFill>
              </a:rPr>
              <a:t>1 / 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B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02920" y="384048"/>
            <a:ext cx="384048" cy="384048"/>
          </a:xfrm>
          <a:prstGeom prst="ellipse">
            <a:avLst/>
          </a:prstGeom>
          <a:solidFill>
            <a:srgbClr val="E600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 bIns="91440"/>
          <a:lstStyle/>
          <a:p>
            <a:pPr algn="ctr">
              <a:spcAft>
                <a:spcPts val="300"/>
              </a:spcAft>
            </a:pPr>
            <a:r>
              <a:rPr sz="1400" b="1">
                <a:solidFill>
                  <a:srgbClr val="FFFFFF"/>
                </a:solidFill>
              </a:rPr>
              <a:t>♥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24128" y="384048"/>
            <a:ext cx="960120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211922"/>
                </a:solidFill>
              </a:rPr>
              <a:t>RxKitchen</a:t>
            </a:r>
            <a:r>
              <a:rPr sz="1100" b="0">
                <a:solidFill>
                  <a:srgbClr val="62625B"/>
                </a:solidFill>
              </a:rPr>
              <a:t>   · field research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0584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E60023"/>
                </a:solidFill>
              </a:rPr>
              <a:t>WE WENT TO THE SOURCE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298448"/>
            <a:ext cx="10515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1">
                <a:solidFill>
                  <a:srgbClr val="211922"/>
                </a:solidFill>
              </a:rPr>
              <a:t>Our visit to Project Open Hand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993392"/>
            <a:ext cx="2688336" cy="2761488"/>
          </a:xfrm>
          <a:prstGeom prst="roundRect">
            <a:avLst>
              <a:gd name="adj" fmla="val 10000"/>
            </a:avLst>
          </a:prstGeom>
          <a:solidFill>
            <a:srgbClr val="F0EFE9"/>
          </a:solidFill>
          <a:ln w="12700">
            <a:solidFill>
              <a:srgbClr val="DADAD3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 bIns="91440"/>
          <a:lstStyle/>
          <a:p>
            <a:pPr algn="ctr">
              <a:spcAft>
                <a:spcPts val="100"/>
              </a:spcAft>
            </a:pPr>
            <a:r>
              <a:rPr sz="1100" b="1">
                <a:solidFill>
                  <a:srgbClr val="62625B"/>
                </a:solidFill>
              </a:rPr>
              <a:t>YOUR PHOTO HERE</a:t>
            </a:r>
          </a:p>
          <a:p>
            <a:pPr algn="ctr">
              <a:spcAft>
                <a:spcPts val="100"/>
              </a:spcAft>
            </a:pPr>
            <a:r>
              <a:rPr sz="600" b="0">
                <a:solidFill>
                  <a:srgbClr val="62625B"/>
                </a:solidFill>
              </a:rPr>
              <a:t/>
            </a:r>
          </a:p>
          <a:p>
            <a:pPr algn="ctr">
              <a:spcAft>
                <a:spcPts val="100"/>
              </a:spcAft>
            </a:pPr>
            <a:r>
              <a:rPr sz="900" b="0">
                <a:solidFill>
                  <a:srgbClr val="62625B"/>
                </a:solidFill>
              </a:rPr>
              <a:t>Insert → Picture →</a:t>
            </a:r>
          </a:p>
          <a:p>
            <a:pPr algn="ctr">
              <a:spcAft>
                <a:spcPts val="100"/>
              </a:spcAft>
            </a:pPr>
            <a:r>
              <a:rPr sz="900" b="0">
                <a:solidFill>
                  <a:srgbClr val="62625B"/>
                </a:solidFill>
              </a:rPr>
              <a:t>This Device…</a:t>
            </a:r>
          </a:p>
          <a:p>
            <a:pPr algn="ctr">
              <a:spcAft>
                <a:spcPts val="100"/>
              </a:spcAft>
            </a:pPr>
            <a:r>
              <a:rPr sz="800" b="0">
                <a:solidFill>
                  <a:srgbClr val="62625B"/>
                </a:solidFill>
              </a:rPr>
              <a:t>(visit photo 1, then delete this box)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355848" y="1993392"/>
            <a:ext cx="2688336" cy="2761488"/>
          </a:xfrm>
          <a:prstGeom prst="roundRect">
            <a:avLst>
              <a:gd name="adj" fmla="val 10000"/>
            </a:avLst>
          </a:prstGeom>
          <a:solidFill>
            <a:srgbClr val="F0EFE9"/>
          </a:solidFill>
          <a:ln w="12700">
            <a:solidFill>
              <a:srgbClr val="DADAD3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 bIns="91440"/>
          <a:lstStyle/>
          <a:p>
            <a:pPr algn="ctr">
              <a:spcAft>
                <a:spcPts val="100"/>
              </a:spcAft>
            </a:pPr>
            <a:r>
              <a:rPr sz="1100" b="1">
                <a:solidFill>
                  <a:srgbClr val="62625B"/>
                </a:solidFill>
              </a:rPr>
              <a:t>YOUR PHOTO HERE</a:t>
            </a:r>
          </a:p>
          <a:p>
            <a:pPr algn="ctr">
              <a:spcAft>
                <a:spcPts val="100"/>
              </a:spcAft>
            </a:pPr>
            <a:r>
              <a:rPr sz="600" b="0">
                <a:solidFill>
                  <a:srgbClr val="62625B"/>
                </a:solidFill>
              </a:rPr>
              <a:t/>
            </a:r>
          </a:p>
          <a:p>
            <a:pPr algn="ctr">
              <a:spcAft>
                <a:spcPts val="100"/>
              </a:spcAft>
            </a:pPr>
            <a:r>
              <a:rPr sz="900" b="0">
                <a:solidFill>
                  <a:srgbClr val="62625B"/>
                </a:solidFill>
              </a:rPr>
              <a:t>Insert → Picture →</a:t>
            </a:r>
          </a:p>
          <a:p>
            <a:pPr algn="ctr">
              <a:spcAft>
                <a:spcPts val="100"/>
              </a:spcAft>
            </a:pPr>
            <a:r>
              <a:rPr sz="900" b="0">
                <a:solidFill>
                  <a:srgbClr val="62625B"/>
                </a:solidFill>
              </a:rPr>
              <a:t>This Device…</a:t>
            </a:r>
          </a:p>
          <a:p>
            <a:pPr algn="ctr">
              <a:spcAft>
                <a:spcPts val="100"/>
              </a:spcAft>
            </a:pPr>
            <a:r>
              <a:rPr sz="800" b="0">
                <a:solidFill>
                  <a:srgbClr val="62625B"/>
                </a:solidFill>
              </a:rPr>
              <a:t>(visit photo 2, then delete this box)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63056" y="1993392"/>
            <a:ext cx="2688336" cy="2761488"/>
          </a:xfrm>
          <a:prstGeom prst="roundRect">
            <a:avLst>
              <a:gd name="adj" fmla="val 10000"/>
            </a:avLst>
          </a:prstGeom>
          <a:solidFill>
            <a:srgbClr val="F0EFE9"/>
          </a:solidFill>
          <a:ln w="12700">
            <a:solidFill>
              <a:srgbClr val="DADAD3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 bIns="91440"/>
          <a:lstStyle/>
          <a:p>
            <a:pPr algn="ctr">
              <a:spcAft>
                <a:spcPts val="100"/>
              </a:spcAft>
            </a:pPr>
            <a:r>
              <a:rPr sz="1100" b="1">
                <a:solidFill>
                  <a:srgbClr val="62625B"/>
                </a:solidFill>
              </a:rPr>
              <a:t>YOUR PHOTO HERE</a:t>
            </a:r>
          </a:p>
          <a:p>
            <a:pPr algn="ctr">
              <a:spcAft>
                <a:spcPts val="100"/>
              </a:spcAft>
            </a:pPr>
            <a:r>
              <a:rPr sz="600" b="0">
                <a:solidFill>
                  <a:srgbClr val="62625B"/>
                </a:solidFill>
              </a:rPr>
              <a:t/>
            </a:r>
          </a:p>
          <a:p>
            <a:pPr algn="ctr">
              <a:spcAft>
                <a:spcPts val="100"/>
              </a:spcAft>
            </a:pPr>
            <a:r>
              <a:rPr sz="900" b="0">
                <a:solidFill>
                  <a:srgbClr val="62625B"/>
                </a:solidFill>
              </a:rPr>
              <a:t>Insert → Picture →</a:t>
            </a:r>
          </a:p>
          <a:p>
            <a:pPr algn="ctr">
              <a:spcAft>
                <a:spcPts val="100"/>
              </a:spcAft>
            </a:pPr>
            <a:r>
              <a:rPr sz="900" b="0">
                <a:solidFill>
                  <a:srgbClr val="62625B"/>
                </a:solidFill>
              </a:rPr>
              <a:t>This Device…</a:t>
            </a:r>
          </a:p>
          <a:p>
            <a:pPr algn="ctr">
              <a:spcAft>
                <a:spcPts val="100"/>
              </a:spcAft>
            </a:pPr>
            <a:r>
              <a:rPr sz="800" b="0">
                <a:solidFill>
                  <a:srgbClr val="62625B"/>
                </a:solidFill>
              </a:rPr>
              <a:t>(visit photo 3, then delete this box)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970264" y="1993392"/>
            <a:ext cx="2688336" cy="2761488"/>
          </a:xfrm>
          <a:prstGeom prst="roundRect">
            <a:avLst>
              <a:gd name="adj" fmla="val 10000"/>
            </a:avLst>
          </a:prstGeom>
          <a:solidFill>
            <a:srgbClr val="F0EFE9"/>
          </a:solidFill>
          <a:ln w="12700">
            <a:solidFill>
              <a:srgbClr val="DADAD3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 bIns="91440"/>
          <a:lstStyle/>
          <a:p>
            <a:pPr algn="ctr">
              <a:spcAft>
                <a:spcPts val="100"/>
              </a:spcAft>
            </a:pPr>
            <a:r>
              <a:rPr sz="1100" b="1">
                <a:solidFill>
                  <a:srgbClr val="62625B"/>
                </a:solidFill>
              </a:rPr>
              <a:t>YOUR PHOTO HERE</a:t>
            </a:r>
          </a:p>
          <a:p>
            <a:pPr algn="ctr">
              <a:spcAft>
                <a:spcPts val="100"/>
              </a:spcAft>
            </a:pPr>
            <a:r>
              <a:rPr sz="600" b="0">
                <a:solidFill>
                  <a:srgbClr val="62625B"/>
                </a:solidFill>
              </a:rPr>
              <a:t/>
            </a:r>
          </a:p>
          <a:p>
            <a:pPr algn="ctr">
              <a:spcAft>
                <a:spcPts val="100"/>
              </a:spcAft>
            </a:pPr>
            <a:r>
              <a:rPr sz="900" b="0">
                <a:solidFill>
                  <a:srgbClr val="62625B"/>
                </a:solidFill>
              </a:rPr>
              <a:t>Insert → Picture →</a:t>
            </a:r>
          </a:p>
          <a:p>
            <a:pPr algn="ctr">
              <a:spcAft>
                <a:spcPts val="100"/>
              </a:spcAft>
            </a:pPr>
            <a:r>
              <a:rPr sz="900" b="0">
                <a:solidFill>
                  <a:srgbClr val="62625B"/>
                </a:solidFill>
              </a:rPr>
              <a:t>This Device…</a:t>
            </a:r>
          </a:p>
          <a:p>
            <a:pPr algn="ctr">
              <a:spcAft>
                <a:spcPts val="100"/>
              </a:spcAft>
            </a:pPr>
            <a:r>
              <a:rPr sz="800" b="0">
                <a:solidFill>
                  <a:srgbClr val="62625B"/>
                </a:solidFill>
              </a:rPr>
              <a:t>(visit photo 4, then delete this box)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4956048"/>
            <a:ext cx="3657600" cy="129844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ADA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46304" tIns="91440" bIns="91440"/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211922"/>
                </a:solidFill>
              </a:rPr>
              <a:t>Kitchens cook menus, not plates.</a:t>
            </a:r>
          </a:p>
          <a:p>
            <a:pPr algn="l">
              <a:spcAft>
                <a:spcPts val="300"/>
              </a:spcAft>
            </a:pPr>
            <a:r>
              <a:rPr sz="1000" b="0">
                <a:solidFill>
                  <a:srgbClr val="62625B"/>
                </a:solidFill>
              </a:rPr>
              <a:t>Bulk batches of a few recipes a day — never 150 bespoke meals.</a:t>
            </a:r>
          </a:p>
          <a:p>
            <a:pPr algn="l">
              <a:spcAft>
                <a:spcPts val="300"/>
              </a:spcAft>
            </a:pPr>
            <a:r>
              <a:rPr sz="900" b="1">
                <a:solidFill>
                  <a:srgbClr val="103C25"/>
                </a:solidFill>
              </a:rPr>
              <a:t>→ 3–5 recipes/day menu planner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34255" y="4956048"/>
            <a:ext cx="3657600" cy="129844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ADA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46304" tIns="91440" bIns="91440"/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211922"/>
                </a:solidFill>
              </a:rPr>
              <a:t>Donations are a lottery.</a:t>
            </a:r>
          </a:p>
          <a:p>
            <a:pPr algn="l">
              <a:spcAft>
                <a:spcPts val="300"/>
              </a:spcAft>
            </a:pPr>
            <a:r>
              <a:rPr sz="1000" b="0">
                <a:solidFill>
                  <a:srgbClr val="62625B"/>
                </a:solidFill>
              </a:rPr>
              <a:t>What arrives is unpredictable; using it well is the margin that funds meals.</a:t>
            </a:r>
          </a:p>
          <a:p>
            <a:pPr algn="l">
              <a:spcAft>
                <a:spcPts val="300"/>
              </a:spcAft>
            </a:pPr>
            <a:r>
              <a:rPr sz="900" b="1">
                <a:solidFill>
                  <a:srgbClr val="103C25"/>
                </a:solidFill>
              </a:rPr>
              <a:t>→ triage gate + donation-to-recipe routing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19871" y="4956048"/>
            <a:ext cx="3657600" cy="129844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ADA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46304" tIns="91440" bIns="91440"/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211922"/>
                </a:solidFill>
              </a:rPr>
              <a:t>A human signs off on safety.</a:t>
            </a:r>
          </a:p>
          <a:p>
            <a:pPr algn="l">
              <a:spcAft>
                <a:spcPts val="300"/>
              </a:spcAft>
            </a:pPr>
            <a:r>
              <a:rPr sz="1000" b="0">
                <a:solidFill>
                  <a:srgbClr val="62625B"/>
                </a:solidFill>
              </a:rPr>
              <a:t>The nutrition team is clinically accountable — automation can draft, not decide.</a:t>
            </a:r>
          </a:p>
          <a:p>
            <a:pPr algn="l">
              <a:spcAft>
                <a:spcPts val="300"/>
              </a:spcAft>
            </a:pPr>
            <a:r>
              <a:rPr sz="900" b="1">
                <a:solidFill>
                  <a:srgbClr val="103C25"/>
                </a:solidFill>
              </a:rPr>
              <a:t>→ approve-to-send workflow, gated on 0 issues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6419088"/>
            <a:ext cx="86868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62625B"/>
                </a:solidFill>
              </a:rPr>
              <a:t>What we learned became the product's shape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0" y="6419088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2625B"/>
                </a:solidFill>
              </a:rPr>
              <a:t>2 / 3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B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02920" y="384048"/>
            <a:ext cx="384048" cy="384048"/>
          </a:xfrm>
          <a:prstGeom prst="ellipse">
            <a:avLst/>
          </a:prstGeom>
          <a:solidFill>
            <a:srgbClr val="E600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 bIns="91440"/>
          <a:lstStyle/>
          <a:p>
            <a:pPr algn="ctr">
              <a:spcAft>
                <a:spcPts val="300"/>
              </a:spcAft>
            </a:pPr>
            <a:r>
              <a:rPr sz="1400" b="1">
                <a:solidFill>
                  <a:srgbClr val="FFFFFF"/>
                </a:solidFill>
              </a:rPr>
              <a:t>♥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24128" y="384048"/>
            <a:ext cx="960120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211922"/>
                </a:solidFill>
              </a:rPr>
              <a:t>RxKitchen</a:t>
            </a:r>
            <a:r>
              <a:rPr sz="1100" b="0">
                <a:solidFill>
                  <a:srgbClr val="62625B"/>
                </a:solidFill>
              </a:rPr>
              <a:t>   · how it works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0584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E60023"/>
                </a:solidFill>
              </a:rPr>
              <a:t>REFERRAL TO DOORSTEP, IN MINUTES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298448"/>
            <a:ext cx="1115568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>
                <a:solidFill>
                  <a:srgbClr val="211922"/>
                </a:solidFill>
              </a:rPr>
              <a:t>Specialist agents, one safety hierarchy, a human decision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938528"/>
            <a:ext cx="1700784" cy="1225296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ADA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46304" tIns="91440" bIns="91440"/>
          <a:lstStyle/>
          <a:p>
            <a:pPr algn="ctr">
              <a:spcAft>
                <a:spcPts val="200"/>
              </a:spcAft>
            </a:pPr>
            <a:r>
              <a:rPr sz="1400" b="0">
                <a:solidFill>
                  <a:srgbClr val="211922"/>
                </a:solidFill>
              </a:rPr>
              <a:t>🏥</a:t>
            </a:r>
          </a:p>
          <a:p>
            <a:pPr algn="ctr">
              <a:spcAft>
                <a:spcPts val="200"/>
              </a:spcAft>
            </a:pPr>
            <a:r>
              <a:rPr sz="1100" b="1">
                <a:solidFill>
                  <a:srgbClr val="211922"/>
                </a:solidFill>
              </a:rPr>
              <a:t>Referral</a:t>
            </a:r>
          </a:p>
          <a:p>
            <a:pPr algn="ctr">
              <a:spcAft>
                <a:spcPts val="200"/>
              </a:spcAft>
            </a:pPr>
            <a:r>
              <a:rPr sz="800" b="0">
                <a:solidFill>
                  <a:srgbClr val="62625B"/>
                </a:solidFill>
              </a:rPr>
              <a:t>HL7-style discharge from the hospital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217420" y="2395728"/>
            <a:ext cx="228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62625B"/>
                </a:solidFill>
              </a:rPr>
              <a:t>→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450591" y="1938528"/>
            <a:ext cx="1700784" cy="1225296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ADA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46304" tIns="91440" bIns="91440"/>
          <a:lstStyle/>
          <a:p>
            <a:pPr algn="ctr">
              <a:spcAft>
                <a:spcPts val="200"/>
              </a:spcAft>
            </a:pPr>
            <a:r>
              <a:rPr sz="1400" b="0">
                <a:solidFill>
                  <a:srgbClr val="211922"/>
                </a:solidFill>
              </a:rPr>
              <a:t>📋</a:t>
            </a:r>
          </a:p>
          <a:p>
            <a:pPr algn="ctr">
              <a:spcAft>
                <a:spcPts val="200"/>
              </a:spcAft>
            </a:pPr>
            <a:r>
              <a:rPr sz="1100" b="1">
                <a:solidFill>
                  <a:srgbClr val="211922"/>
                </a:solidFill>
              </a:rPr>
              <a:t>Intake Agent</a:t>
            </a:r>
          </a:p>
          <a:p>
            <a:pPr algn="ctr">
              <a:spcAft>
                <a:spcPts val="200"/>
              </a:spcAft>
            </a:pPr>
            <a:r>
              <a:rPr sz="800" b="0">
                <a:solidFill>
                  <a:srgbClr val="62625B"/>
                </a:solidFill>
              </a:rPr>
              <a:t>structures diets, allergies, hard limits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65091" y="2395728"/>
            <a:ext cx="228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62625B"/>
                </a:solidFill>
              </a:rPr>
              <a:t>→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98264" y="1938528"/>
            <a:ext cx="1700784" cy="1225296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ADA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46304" tIns="91440" bIns="91440"/>
          <a:lstStyle/>
          <a:p>
            <a:pPr algn="ctr">
              <a:spcAft>
                <a:spcPts val="200"/>
              </a:spcAft>
            </a:pPr>
            <a:r>
              <a:rPr sz="1400" b="0">
                <a:solidFill>
                  <a:srgbClr val="211922"/>
                </a:solidFill>
              </a:rPr>
              <a:t>🩺</a:t>
            </a:r>
          </a:p>
          <a:p>
            <a:pPr algn="ctr">
              <a:spcAft>
                <a:spcPts val="200"/>
              </a:spcAft>
            </a:pPr>
            <a:r>
              <a:rPr sz="1100" b="1">
                <a:solidFill>
                  <a:srgbClr val="211922"/>
                </a:solidFill>
              </a:rPr>
              <a:t>Clinical Matching</a:t>
            </a:r>
          </a:p>
          <a:p>
            <a:pPr algn="ctr">
              <a:spcAft>
                <a:spcPts val="200"/>
              </a:spcAft>
            </a:pPr>
            <a:r>
              <a:rPr sz="800" b="0">
                <a:solidFill>
                  <a:srgbClr val="62625B"/>
                </a:solidFill>
              </a:rPr>
              <a:t>hard checks exclude — never “score down”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112764" y="2395728"/>
            <a:ext cx="228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62625B"/>
                </a:solidFill>
              </a:rPr>
              <a:t>→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345936" y="1938528"/>
            <a:ext cx="1700784" cy="1225296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ADA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46304" tIns="91440" bIns="91440"/>
          <a:lstStyle/>
          <a:p>
            <a:pPr algn="ctr">
              <a:spcAft>
                <a:spcPts val="200"/>
              </a:spcAft>
            </a:pPr>
            <a:r>
              <a:rPr sz="1400" b="0">
                <a:solidFill>
                  <a:srgbClr val="211922"/>
                </a:solidFill>
              </a:rPr>
              <a:t>🍳</a:t>
            </a:r>
          </a:p>
          <a:p>
            <a:pPr algn="ctr">
              <a:spcAft>
                <a:spcPts val="200"/>
              </a:spcAft>
            </a:pPr>
            <a:r>
              <a:rPr sz="1100" b="1">
                <a:solidFill>
                  <a:srgbClr val="211922"/>
                </a:solidFill>
              </a:rPr>
              <a:t>Kitchen Planning</a:t>
            </a:r>
          </a:p>
          <a:p>
            <a:pPr algn="ctr">
              <a:spcAft>
                <a:spcPts val="200"/>
              </a:spcAft>
            </a:pPr>
            <a:r>
              <a:rPr sz="800" b="0">
                <a:solidFill>
                  <a:srgbClr val="62625B"/>
                </a:solidFill>
              </a:rPr>
              <a:t>daily menus + fresh batches from real demand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60436" y="2395728"/>
            <a:ext cx="228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62625B"/>
                </a:solidFill>
              </a:rPr>
              <a:t>→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93608" y="1938528"/>
            <a:ext cx="1700784" cy="1225296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ADA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46304" tIns="91440" bIns="91440"/>
          <a:lstStyle/>
          <a:p>
            <a:pPr algn="ctr">
              <a:spcAft>
                <a:spcPts val="200"/>
              </a:spcAft>
            </a:pPr>
            <a:r>
              <a:rPr sz="1400" b="0">
                <a:solidFill>
                  <a:srgbClr val="211922"/>
                </a:solidFill>
              </a:rPr>
              <a:t>📦</a:t>
            </a:r>
          </a:p>
          <a:p>
            <a:pPr algn="ctr">
              <a:spcAft>
                <a:spcPts val="200"/>
              </a:spcAft>
            </a:pPr>
            <a:r>
              <a:rPr sz="1100" b="1">
                <a:solidFill>
                  <a:srgbClr val="211922"/>
                </a:solidFill>
              </a:rPr>
              <a:t>Donation Triage</a:t>
            </a:r>
          </a:p>
          <a:p>
            <a:pPr algn="ctr">
              <a:spcAft>
                <a:spcPts val="200"/>
              </a:spcAft>
            </a:pPr>
            <a:r>
              <a:rPr sz="800" b="0">
                <a:solidFill>
                  <a:srgbClr val="62625B"/>
                </a:solidFill>
              </a:rPr>
              <a:t>food-safety gate routes arrivals to recipes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08108" y="2395728"/>
            <a:ext cx="228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62625B"/>
                </a:solidFill>
              </a:rPr>
              <a:t>→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0241280" y="1938528"/>
            <a:ext cx="1700784" cy="1225296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ADA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46304" tIns="91440" bIns="91440"/>
          <a:lstStyle/>
          <a:p>
            <a:pPr algn="ctr">
              <a:spcAft>
                <a:spcPts val="200"/>
              </a:spcAft>
            </a:pPr>
            <a:r>
              <a:rPr sz="1400" b="0">
                <a:solidFill>
                  <a:srgbClr val="211922"/>
                </a:solidFill>
              </a:rPr>
              <a:t>✅</a:t>
            </a:r>
          </a:p>
          <a:p>
            <a:pPr algn="ctr">
              <a:spcAft>
                <a:spcPts val="200"/>
              </a:spcAft>
            </a:pPr>
            <a:r>
              <a:rPr sz="1100" b="1">
                <a:solidFill>
                  <a:srgbClr val="211922"/>
                </a:solidFill>
              </a:rPr>
              <a:t>CNO approves</a:t>
            </a:r>
          </a:p>
          <a:p>
            <a:pPr algn="ctr">
              <a:spcAft>
                <a:spcPts val="200"/>
              </a:spcAft>
            </a:pPr>
            <a:r>
              <a:rPr sz="800" b="0">
                <a:solidFill>
                  <a:srgbClr val="62625B"/>
                </a:solidFill>
              </a:rPr>
              <a:t>gated on zero issues → cook sheet to kitchen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" y="3401568"/>
            <a:ext cx="5989320" cy="26974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ADA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46304" tIns="91440" bIns="91440"/>
          <a:lstStyle/>
          <a:p>
            <a:pPr algn="l">
              <a:spcAft>
                <a:spcPts val="700"/>
              </a:spcAft>
            </a:pPr>
            <a:r>
              <a:rPr sz="1400" b="1">
                <a:solidFill>
                  <a:srgbClr val="211922"/>
                </a:solidFill>
              </a:rPr>
              <a:t>Honest by construction</a:t>
            </a:r>
          </a:p>
          <a:p>
            <a:pPr algn="l">
              <a:spcAft>
                <a:spcPts val="700"/>
              </a:spcAft>
            </a:pPr>
            <a:r>
              <a:rPr sz="1100" b="0">
                <a:solidFill>
                  <a:srgbClr val="62625B"/>
                </a:solidFill>
              </a:rPr>
              <a:t>• </a:t>
            </a:r>
            <a:r>
              <a:rPr sz="1100" b="1">
                <a:solidFill>
                  <a:srgbClr val="211922"/>
                </a:solidFill>
              </a:rPr>
              <a:t>Reasoning pre-computed offline</a:t>
            </a:r>
            <a:r>
              <a:rPr sz="1100" b="0">
                <a:solidFill>
                  <a:srgbClr val="62625B"/>
                </a:solidFill>
              </a:rPr>
              <a:t> by Claude — zero live-inference risk on stage.</a:t>
            </a:r>
          </a:p>
          <a:p>
            <a:pPr algn="l">
              <a:spcAft>
                <a:spcPts val="700"/>
              </a:spcAft>
            </a:pPr>
            <a:r>
              <a:rPr sz="1100" b="0">
                <a:solidFill>
                  <a:srgbClr val="62625B"/>
                </a:solidFill>
              </a:rPr>
              <a:t>• </a:t>
            </a:r>
            <a:r>
              <a:rPr sz="1100" b="1">
                <a:solidFill>
                  <a:srgbClr val="211922"/>
                </a:solidFill>
              </a:rPr>
              <a:t>Safety verified live:</a:t>
            </a:r>
            <a:r>
              <a:rPr sz="1100" b="0">
                <a:solidFill>
                  <a:srgbClr val="62625B"/>
                </a:solidFill>
              </a:rPr>
              <a:t> 4,850 constraint checks re-run in the browser; the “0” is computed, never asserted.</a:t>
            </a:r>
          </a:p>
          <a:p>
            <a:pPr algn="l">
              <a:spcAft>
                <a:spcPts val="700"/>
              </a:spcAft>
            </a:pPr>
            <a:r>
              <a:rPr sz="1100" b="0">
                <a:solidFill>
                  <a:srgbClr val="62625B"/>
                </a:solidFill>
              </a:rPr>
              <a:t>• </a:t>
            </a:r>
            <a:r>
              <a:rPr sz="1100" b="1">
                <a:solidFill>
                  <a:srgbClr val="211922"/>
                </a:solidFill>
              </a:rPr>
              <a:t>Grounding-audited streams:</a:t>
            </a:r>
            <a:r>
              <a:rPr sz="1100" b="0">
                <a:solidFill>
                  <a:srgbClr val="62625B"/>
                </a:solidFill>
              </a:rPr>
              <a:t> agents can’t cite a meal, number, or batch that isn’t in the data.</a:t>
            </a:r>
          </a:p>
          <a:p>
            <a:pPr algn="l">
              <a:spcAft>
                <a:spcPts val="700"/>
              </a:spcAft>
            </a:pPr>
            <a:r>
              <a:rPr sz="1100" b="0">
                <a:solidFill>
                  <a:srgbClr val="62625B"/>
                </a:solidFill>
              </a:rPr>
              <a:t>• </a:t>
            </a:r>
            <a:r>
              <a:rPr sz="1100" b="1">
                <a:solidFill>
                  <a:srgbClr val="211922"/>
                </a:solidFill>
              </a:rPr>
              <a:t>The replay contract is the v2 API</a:t>
            </a:r>
            <a:r>
              <a:rPr sz="1100" b="0">
                <a:solidFill>
                  <a:srgbClr val="62625B"/>
                </a:solidFill>
              </a:rPr>
              <a:t> — swap the replayer for live agents, keep the product.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675120" y="3401568"/>
            <a:ext cx="4983480" cy="2697480"/>
          </a:xfrm>
          <a:prstGeom prst="roundRect">
            <a:avLst>
              <a:gd name="adj" fmla="val 10000"/>
            </a:avLst>
          </a:prstGeom>
          <a:solidFill>
            <a:srgbClr val="C7F0DA"/>
          </a:solidFill>
          <a:ln w="12700">
            <a:solidFill>
              <a:srgbClr val="A8DC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46304" tIns="91440" bIns="91440"/>
          <a:lstStyle/>
          <a:p>
            <a:pPr algn="l">
              <a:spcAft>
                <a:spcPts val="700"/>
              </a:spcAft>
            </a:pPr>
            <a:r>
              <a:rPr sz="1400" b="1">
                <a:solidFill>
                  <a:srgbClr val="103C25"/>
                </a:solidFill>
              </a:rPr>
              <a:t>What you saw in the demo</a:t>
            </a:r>
          </a:p>
          <a:p>
            <a:pPr algn="l">
              <a:spcAft>
                <a:spcPts val="700"/>
              </a:spcAft>
            </a:pPr>
            <a:r>
              <a:rPr sz="1100" b="0">
                <a:solidFill>
                  <a:srgbClr val="103C25"/>
                </a:solidFill>
              </a:rPr>
              <a:t>• New referral → drafted, explained, approved.</a:t>
            </a:r>
          </a:p>
          <a:p>
            <a:pPr algn="l">
              <a:spcAft>
                <a:spcPts val="700"/>
              </a:spcAft>
            </a:pPr>
            <a:r>
              <a:rPr sz="1100" b="0">
                <a:solidFill>
                  <a:srgbClr val="103C25"/>
                </a:solidFill>
              </a:rPr>
              <a:t>• “Why this meal?” — every check in plain words.</a:t>
            </a:r>
          </a:p>
          <a:p>
            <a:pPr algn="l">
              <a:spcAft>
                <a:spcPts val="700"/>
              </a:spcAft>
            </a:pPr>
            <a:r>
              <a:rPr sz="1100" b="0">
                <a:solidFill>
                  <a:srgbClr val="103C25"/>
                </a:solidFill>
              </a:rPr>
              <a:t>• Stockout → agents re-plan; limits never relax.</a:t>
            </a:r>
          </a:p>
          <a:p>
            <a:pPr algn="l">
              <a:spcAft>
                <a:spcPts val="700"/>
              </a:spcAft>
            </a:pPr>
            <a:r>
              <a:rPr sz="1100" b="0">
                <a:solidFill>
                  <a:srgbClr val="103C25"/>
                </a:solidFill>
              </a:rPr>
              <a:t>• Donation drop-off → triaged into a batch.</a:t>
            </a:r>
          </a:p>
          <a:p>
            <a:pPr algn="l">
              <a:spcAft>
                <a:spcPts val="700"/>
              </a:spcAft>
            </a:pPr>
            <a:r>
              <a:rPr sz="1100" b="0">
                <a:solidFill>
                  <a:srgbClr val="103C25"/>
                </a:solidFill>
              </a:rPr>
              <a:t>• Next-week projection → concrete donation asks.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6419088"/>
            <a:ext cx="86868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62625B"/>
                </a:solidFill>
              </a:rPr>
              <a:t>Next: FHIR referrals · live agent runs behind the same contract · every MTM org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972800" y="6419088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2625B"/>
                </a:solidFill>
              </a:rPr>
              <a:t>3 / 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